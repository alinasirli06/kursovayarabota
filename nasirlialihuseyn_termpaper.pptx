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7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27471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-1371600"/>
            <a:ext cx="4114800" cy="4114800"/>
          </a:xfrm>
          <a:prstGeom prst="ellipse">
            <a:avLst/>
          </a:prstGeom>
          <a:solidFill>
            <a:srgbClr val="0F3460">
              <a:alpha val="30000"/>
            </a:srgbClr>
          </a:solidFill>
          <a:ln w="12700">
            <a:solidFill>
              <a:srgbClr val="0F346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2926080" cy="347472"/>
          </a:xfrm>
          <a:prstGeom prst="rect">
            <a:avLst/>
          </a:prstGeom>
          <a:solidFill>
            <a:srgbClr val="E63946">
              <a:alpha val="70000"/>
            </a:srgbClr>
          </a:solidFill>
          <a:ln w="12700">
            <a:solidFill>
              <a:srgbClr val="E63946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AAAA"/>
                </a:solidFill>
              </a:rPr>
              <a:t>КУРСОВОЙ ПРОЕКТ · 202</a:t>
            </a:r>
            <a:r>
              <a:rPr lang="ru-RU" sz="1000" b="1" kern="0" spc="200" dirty="0">
                <a:solidFill>
                  <a:srgbClr val="FFAAAA"/>
                </a:solidFill>
              </a:rPr>
              <a:t>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59436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Разработка онлайновой</a:t>
            </a:r>
            <a:endParaRPr lang="en-US" sz="3000" dirty="0"/>
          </a:p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информационно-справочной</a:t>
            </a:r>
            <a:endParaRPr lang="en-US" sz="3000" dirty="0"/>
          </a:p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системы для фитнес-центров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35204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AAAACC"/>
                </a:solidFill>
              </a:rPr>
              <a:t>Дисциплина: Веб-программирование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9776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ru-RU" sz="1100" dirty="0">
                <a:solidFill>
                  <a:srgbClr val="888899"/>
                </a:solidFill>
              </a:rPr>
              <a:t>Н.Алигусейн</a:t>
            </a:r>
            <a:r>
              <a:rPr lang="en-US" sz="1100" dirty="0">
                <a:solidFill>
                  <a:srgbClr val="888899"/>
                </a:solidFill>
              </a:rPr>
              <a:t>|  </a:t>
            </a:r>
            <a:r>
              <a:rPr lang="en-US" sz="1100" dirty="0" err="1">
                <a:solidFill>
                  <a:srgbClr val="888899"/>
                </a:solidFill>
              </a:rPr>
              <a:t>Группа</a:t>
            </a:r>
            <a:r>
              <a:rPr lang="en-US" sz="1100" dirty="0">
                <a:solidFill>
                  <a:srgbClr val="888899"/>
                </a:solidFill>
              </a:rPr>
              <a:t> 680.23  |  </a:t>
            </a:r>
            <a:r>
              <a:rPr lang="ru-RU" sz="1100" dirty="0">
                <a:solidFill>
                  <a:srgbClr val="888899"/>
                </a:solidFill>
              </a:rPr>
              <a:t>Преподаватели: Х.Мятляб,А.Джамиль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0" y="2743200"/>
            <a:ext cx="1371600" cy="13716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315200" y="27432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</a:rPr>
              <a:t>А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7132320" y="41605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FFFFFF"/>
                </a:solidFill>
              </a:rPr>
              <a:t>АТЛАНТ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Цель и задачи работы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411480"/>
            <a:ext cx="91440" cy="9144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3840480" cy="338328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14630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300" dirty="0">
                <a:solidFill>
                  <a:srgbClr val="E63946"/>
                </a:solidFill>
              </a:rPr>
              <a:t>ЦЕЛЬ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96596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FFFFFF"/>
                </a:solidFill>
              </a:rPr>
              <a:t>Разработать онлайновую</a:t>
            </a:r>
            <a:endParaRPr lang="en-US" sz="1350" dirty="0"/>
          </a:p>
          <a:p>
            <a:pPr marL="0" indent="0" algn="l">
              <a:buNone/>
            </a:pPr>
            <a:r>
              <a:rPr lang="en-US" sz="1350" dirty="0">
                <a:solidFill>
                  <a:srgbClr val="FFFFFF"/>
                </a:solidFill>
              </a:rPr>
              <a:t>информационно-справочную</a:t>
            </a:r>
            <a:endParaRPr lang="en-US" sz="1350" dirty="0"/>
          </a:p>
          <a:p>
            <a:pPr marL="0" indent="0" algn="l">
              <a:buNone/>
            </a:pPr>
            <a:r>
              <a:rPr lang="en-US" sz="1350" dirty="0">
                <a:solidFill>
                  <a:srgbClr val="FFFFFF"/>
                </a:solidFill>
              </a:rPr>
              <a:t>систему для фитнес-центра</a:t>
            </a:r>
            <a:endParaRPr lang="en-US" sz="1350" dirty="0"/>
          </a:p>
          <a:p>
            <a:pPr marL="0" indent="0" algn="l">
              <a:buNone/>
            </a:pPr>
            <a:r>
              <a:rPr lang="en-US" sz="1350" dirty="0">
                <a:solidFill>
                  <a:srgbClr val="FFFFFF"/>
                </a:solidFill>
              </a:rPr>
              <a:t>с использованием HTML,</a:t>
            </a:r>
            <a:endParaRPr lang="en-US" sz="1350" dirty="0"/>
          </a:p>
          <a:p>
            <a:pPr marL="0" indent="0" algn="l">
              <a:buNone/>
            </a:pPr>
            <a:r>
              <a:rPr lang="en-US" sz="1350" dirty="0">
                <a:solidFill>
                  <a:srgbClr val="FFFFFF"/>
                </a:solidFill>
              </a:rPr>
              <a:t>CSS и JavaScript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572000" y="137160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1A1A2E"/>
                </a:solidFill>
              </a:rPr>
              <a:t>ЗАДАЧИ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0" y="1993392"/>
            <a:ext cx="256032" cy="256032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0" y="19933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919472" y="1920240"/>
            <a:ext cx="3977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3344"/>
                </a:solidFill>
              </a:rPr>
              <a:t>Изучить теоретическую базу по ИСС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0" y="2505456"/>
            <a:ext cx="256032" cy="256032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0" y="25054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919472" y="2432304"/>
            <a:ext cx="3977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3344"/>
                </a:solidFill>
              </a:rPr>
              <a:t>Проанализировать веб-технологии в фитнесе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0" y="3017520"/>
            <a:ext cx="256032" cy="256032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0" y="30175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19472" y="2944368"/>
            <a:ext cx="3977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3344"/>
                </a:solidFill>
              </a:rPr>
              <a:t>Разработать структуру многостраничного сайта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572000" y="3529584"/>
            <a:ext cx="256032" cy="256032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0" y="35295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19472" y="3456432"/>
            <a:ext cx="3977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3344"/>
                </a:solidFill>
              </a:rPr>
              <a:t>Реализовать адаптивный интерфейс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572000" y="4041648"/>
            <a:ext cx="256032" cy="256032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72000" y="40416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919472" y="3968496"/>
            <a:ext cx="3977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3344"/>
                </a:solidFill>
              </a:rPr>
              <a:t>Добавить интерактивный JavaScript-функционал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572000" y="4553712"/>
            <a:ext cx="256032" cy="256032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572000" y="45537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919472" y="4480560"/>
            <a:ext cx="3977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3344"/>
                </a:solidFill>
              </a:rPr>
              <a:t>Протестировать и задокументировать результат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50392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</a:rPr>
              <a:t>2 / 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Технологии разработки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26517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2651760" cy="128016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41732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</a:rPr>
              <a:t>H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02920" y="27432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2E"/>
                </a:solidFill>
              </a:rPr>
              <a:t>HTML5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320040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6B6B6B"/>
                </a:solidFill>
              </a:rPr>
              <a:t>Структура сайта.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6B6B6B"/>
                </a:solidFill>
              </a:rPr>
              <a:t>Семантические теги,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6B6B6B"/>
                </a:solidFill>
              </a:rPr>
              <a:t>формы, таблицы,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6B6B6B"/>
                </a:solidFill>
              </a:rPr>
              <a:t>атрибуты data-*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83280" y="1417320"/>
            <a:ext cx="26517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383280" y="1417320"/>
            <a:ext cx="2651760" cy="128016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383280" y="141732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</a:rPr>
              <a:t>C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3383280" y="27432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2E"/>
                </a:solidFill>
              </a:rPr>
              <a:t>CSS3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20440" y="320040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6B6B6B"/>
                </a:solidFill>
              </a:rPr>
              <a:t>Оформление.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6B6B6B"/>
                </a:solidFill>
              </a:rPr>
              <a:t>Flexbox, Grid,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6B6B6B"/>
                </a:solidFill>
              </a:rPr>
              <a:t>CSS-переменные,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6B6B6B"/>
                </a:solidFill>
              </a:rPr>
              <a:t>медиазапросы, анимации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63640" y="1417320"/>
            <a:ext cx="26517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263640" y="1417320"/>
            <a:ext cx="2651760" cy="128016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263640" y="141732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</a:rPr>
              <a:t>JS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6263640" y="27432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2E"/>
                </a:solidFill>
              </a:rPr>
              <a:t>JavaScript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00800" y="320040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6B6B6B"/>
                </a:solidFill>
              </a:rPr>
              <a:t>Интерактивность.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6B6B6B"/>
                </a:solidFill>
              </a:rPr>
              <a:t>Меню, фильтр,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6B6B6B"/>
                </a:solidFill>
              </a:rPr>
              <a:t>валидация формы,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6B6B6B"/>
                </a:solidFill>
              </a:rPr>
              <a:t>модальное окно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50392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</a:rPr>
              <a:t>3 / 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Структура проекта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371600"/>
            <a:ext cx="3657600" cy="338328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FITNESS-SITE /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index.html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212848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services.html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505456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schedule.html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798064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contact.html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090672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css/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38328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style.css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675888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js/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968496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script.js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261104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images/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297680" y="1371600"/>
            <a:ext cx="4572000" cy="685800"/>
          </a:xfrm>
          <a:prstGeom prst="rect">
            <a:avLst/>
          </a:prstGeom>
          <a:solidFill>
            <a:srgbClr val="F5F5F7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297680" y="1371600"/>
            <a:ext cx="54864" cy="6858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480560" y="1408176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index.html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480560" y="1700784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</a:rPr>
              <a:t>Hero, преимущества, услуги, расписание, тренеры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297680" y="2194560"/>
            <a:ext cx="4572000" cy="685800"/>
          </a:xfrm>
          <a:prstGeom prst="rect">
            <a:avLst/>
          </a:prstGeom>
          <a:solidFill>
            <a:srgbClr val="F5F5F7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297680" y="2194560"/>
            <a:ext cx="54864" cy="6858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480560" y="2231136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services.html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480560" y="2523744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</a:rPr>
              <a:t>Каталог услуг, описания, цены, абонементы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297680" y="3017520"/>
            <a:ext cx="4572000" cy="685800"/>
          </a:xfrm>
          <a:prstGeom prst="rect">
            <a:avLst/>
          </a:prstGeom>
          <a:solidFill>
            <a:srgbClr val="F5F5F7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297680" y="3017520"/>
            <a:ext cx="54864" cy="6858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480560" y="3054096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schedule.html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480560" y="3346704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</a:rPr>
              <a:t>Расписание по дням с фильтром по категориям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297680" y="3840480"/>
            <a:ext cx="4572000" cy="685800"/>
          </a:xfrm>
          <a:prstGeom prst="rect">
            <a:avLst/>
          </a:prstGeom>
          <a:solidFill>
            <a:srgbClr val="F5F5F7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297680" y="3840480"/>
            <a:ext cx="54864" cy="6858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480560" y="3877056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contact.html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480560" y="4169664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</a:rPr>
              <a:t>Контакты, форма обратной связи, FAQ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50392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</a:rPr>
              <a:t>4 / 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Реализованный функционал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417320"/>
            <a:ext cx="2743200" cy="1554480"/>
          </a:xfrm>
          <a:prstGeom prst="rect">
            <a:avLst/>
          </a:prstGeom>
          <a:solidFill>
            <a:srgbClr val="252545"/>
          </a:solidFill>
          <a:ln w="12700">
            <a:solidFill>
              <a:srgbClr val="35356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1417320"/>
            <a:ext cx="27432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84048" y="15270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☰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41248" y="1527048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Мобильное меню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2011680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AAACC"/>
                </a:solidFill>
              </a:rPr>
              <a:t>Бургер-кнопка с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AAACC"/>
                </a:solidFill>
              </a:rPr>
              <a:t>анимацией открытия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AAACC"/>
                </a:solidFill>
              </a:rPr>
              <a:t>навигации на телефоне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1417320"/>
            <a:ext cx="2743200" cy="1554480"/>
          </a:xfrm>
          <a:prstGeom prst="rect">
            <a:avLst/>
          </a:prstGeom>
          <a:solidFill>
            <a:srgbClr val="252545"/>
          </a:solidFill>
          <a:ln w="12700">
            <a:solidFill>
              <a:srgbClr val="35356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00400" y="1417320"/>
            <a:ext cx="27432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310128" y="15270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767328" y="1527048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Фильтр расписания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37560" y="2011680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AAACC"/>
                </a:solidFill>
              </a:rPr>
              <a:t>Отбор занятий по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AAACC"/>
                </a:solidFill>
              </a:rPr>
              <a:t>6 категориям с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AAACC"/>
                </a:solidFill>
              </a:rPr>
              <a:t>автосчётчиком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1417320"/>
            <a:ext cx="2743200" cy="1554480"/>
          </a:xfrm>
          <a:prstGeom prst="rect">
            <a:avLst/>
          </a:prstGeom>
          <a:solidFill>
            <a:srgbClr val="252545"/>
          </a:solidFill>
          <a:ln w="12700">
            <a:solidFill>
              <a:srgbClr val="35356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126480" y="1417320"/>
            <a:ext cx="27432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236208" y="15270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693408" y="1527048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Валидация формы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63640" y="2011680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AAACC"/>
                </a:solidFill>
              </a:rPr>
              <a:t>Проверка 5 полей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AAACC"/>
                </a:solidFill>
              </a:rPr>
              <a:t>с подсветкой ошибок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AAACC"/>
                </a:solidFill>
              </a:rPr>
              <a:t>и regex-паттернами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3154680"/>
            <a:ext cx="2743200" cy="1554480"/>
          </a:xfrm>
          <a:prstGeom prst="rect">
            <a:avLst/>
          </a:prstGeom>
          <a:solidFill>
            <a:srgbClr val="252545"/>
          </a:solidFill>
          <a:ln w="12700">
            <a:solidFill>
              <a:srgbClr val="35356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74320" y="3154680"/>
            <a:ext cx="27432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84048" y="32644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🪟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41248" y="3264408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Модальное окно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11480" y="3749040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AAACC"/>
                </a:solidFill>
              </a:rPr>
              <a:t>Popup с формой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AAACC"/>
                </a:solidFill>
              </a:rPr>
              <a:t>записи, закрытие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AAACC"/>
                </a:solidFill>
              </a:rPr>
              <a:t>по Escape и оверлею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0" y="3154680"/>
            <a:ext cx="2743200" cy="1554480"/>
          </a:xfrm>
          <a:prstGeom prst="rect">
            <a:avLst/>
          </a:prstGeom>
          <a:solidFill>
            <a:srgbClr val="252545"/>
          </a:solidFill>
          <a:ln w="12700">
            <a:solidFill>
              <a:srgbClr val="35356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200400" y="3154680"/>
            <a:ext cx="27432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310128" y="32644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⬆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3767328" y="3264408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Кнопка «Наверх»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337560" y="3749040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AAACC"/>
                </a:solidFill>
              </a:rPr>
              <a:t>Появляется при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AAACC"/>
                </a:solidFill>
              </a:rPr>
              <a:t>прокрутке &gt; 300px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AAACC"/>
                </a:solidFill>
              </a:rPr>
              <a:t>с анимацией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26480" y="3154680"/>
            <a:ext cx="2743200" cy="1554480"/>
          </a:xfrm>
          <a:prstGeom prst="rect">
            <a:avLst/>
          </a:prstGeom>
          <a:solidFill>
            <a:srgbClr val="252545"/>
          </a:solidFill>
          <a:ln w="12700">
            <a:solidFill>
              <a:srgbClr val="35356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126480" y="3154680"/>
            <a:ext cx="27432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236208" y="32644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✨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693408" y="3264408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Анимации появления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263640" y="3749040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AAACC"/>
                </a:solidFill>
              </a:rPr>
              <a:t>IntersectionObserver: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AAACC"/>
                </a:solidFill>
              </a:rPr>
              <a:t>плавное всплывание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AAACC"/>
                </a:solidFill>
              </a:rPr>
              <a:t>карточек при скролле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50392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66"/>
                </a:solidFill>
              </a:rPr>
              <a:t>5 / 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Результаты разработки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1920240" cy="13716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150876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E63946"/>
                </a:solidFill>
              </a:rPr>
              <a:t>4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365760" y="22860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AAACC"/>
                </a:solidFill>
              </a:rPr>
              <a:t>страницы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AAAACC"/>
                </a:solidFill>
              </a:rPr>
              <a:t>сайта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468880" y="1417320"/>
            <a:ext cx="1920240" cy="13716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468880" y="150876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E63946"/>
                </a:solidFill>
              </a:rPr>
              <a:t>6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2468880" y="22860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AAACC"/>
                </a:solidFill>
              </a:rPr>
              <a:t>JavaScript-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AAAACC"/>
                </a:solidFill>
              </a:rPr>
              <a:t>функций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0" y="1417320"/>
            <a:ext cx="1920240" cy="13716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0" y="150876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E63946"/>
                </a:solidFill>
              </a:rPr>
              <a:t>6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4572000" y="22860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AAACC"/>
                </a:solidFill>
              </a:rPr>
              <a:t>направлений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AAAACC"/>
                </a:solidFill>
              </a:rPr>
              <a:t>услуг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675120" y="1417320"/>
            <a:ext cx="1920240" cy="13716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675120" y="150876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E63946"/>
                </a:solidFill>
              </a:rPr>
              <a:t>3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6675120" y="22860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AAACC"/>
                </a:solidFill>
              </a:rPr>
              <a:t>тарифных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AAAACC"/>
                </a:solidFill>
              </a:rPr>
              <a:t>плана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65760" y="2971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</a:rPr>
              <a:t>Все требования выполнены: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3401568"/>
            <a:ext cx="201168" cy="20116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65760" y="34015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58368" y="3374136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44"/>
                </a:solidFill>
              </a:rPr>
              <a:t>Сайт работает в Chrome, Firefox, Safari, Edge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3749040"/>
            <a:ext cx="201168" cy="20116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65760" y="37490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58368" y="3721608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44"/>
                </a:solidFill>
              </a:rPr>
              <a:t>Адаптивность: мобильные + планшеты + ПК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4096512"/>
            <a:ext cx="201168" cy="20116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65760" y="409651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58368" y="406908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44"/>
                </a:solidFill>
              </a:rPr>
              <a:t>Чистый читаемый код с комментариями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65760" y="4443984"/>
            <a:ext cx="201168" cy="20116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65760" y="444398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58368" y="4416552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44"/>
                </a:solidFill>
              </a:rPr>
              <a:t>Все JavaScript-функции протестированы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029200" y="2880360"/>
            <a:ext cx="3840480" cy="1920240"/>
          </a:xfrm>
          <a:prstGeom prst="rect">
            <a:avLst/>
          </a:prstGeom>
          <a:solidFill>
            <a:srgbClr val="F5F5F7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029200" y="2880360"/>
            <a:ext cx="38404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E0E0E0"/>
                </a:solidFill>
              </a:rPr>
              <a:t>[Скриншот сайта]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50392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</a:rPr>
              <a:t>6 / 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914400"/>
            <a:ext cx="5029200" cy="5029200"/>
          </a:xfrm>
          <a:prstGeom prst="ellipse">
            <a:avLst/>
          </a:prstGeom>
          <a:solidFill>
            <a:srgbClr val="0F3460">
              <a:alpha val="25000"/>
            </a:srgbClr>
          </a:solidFill>
          <a:ln w="12700">
            <a:solidFill>
              <a:srgbClr val="0F3460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371600" y="2743200"/>
            <a:ext cx="3657600" cy="3657600"/>
          </a:xfrm>
          <a:prstGeom prst="ellipse">
            <a:avLst/>
          </a:prstGeom>
          <a:solidFill>
            <a:srgbClr val="E63946">
              <a:alpha val="15000"/>
            </a:srgbClr>
          </a:solidFill>
          <a:ln w="12700">
            <a:solidFill>
              <a:srgbClr val="E63946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548640"/>
            <a:ext cx="73152" cy="36576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5486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Заключение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132588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AAACC"/>
                </a:solidFill>
              </a:rPr>
              <a:t>В ходе работы было разработано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AAACC"/>
                </a:solidFill>
              </a:rPr>
              <a:t>полноценное веб-приложение: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148840"/>
            <a:ext cx="292608" cy="29260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2148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15568" y="2130552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DDDEE"/>
                </a:solidFill>
              </a:rPr>
              <a:t>Изучены и применены HTML5, CSS3, JavaScript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31520" y="2642616"/>
            <a:ext cx="292608" cy="29260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31520" y="26426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15568" y="2624328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DDDEE"/>
                </a:solidFill>
              </a:rPr>
              <a:t>Реализована 4-страничная информационная система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31520" y="3136392"/>
            <a:ext cx="292608" cy="29260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31520" y="31363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15568" y="3118104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DDDEE"/>
                </a:solidFill>
              </a:rPr>
              <a:t>Достигнута полная адаптивность интерфейса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31520" y="3630168"/>
            <a:ext cx="292608" cy="29260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31520" y="36301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15568" y="3611880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DDDEE"/>
                </a:solidFill>
              </a:rPr>
              <a:t>Весь запланированный функционал работает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31520" y="4123944"/>
            <a:ext cx="292608" cy="29260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31520" y="41239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15568" y="4105656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DDDEE"/>
                </a:solidFill>
              </a:rPr>
              <a:t>Код документирован и структурирован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92240" y="1828800"/>
            <a:ext cx="2377440" cy="2743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492240" y="192024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Работа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выполнена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в полном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объёме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92240" y="347472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CCCC"/>
                </a:solidFill>
              </a:rPr>
              <a:t>Спасибо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FCCCC"/>
                </a:solidFill>
              </a:rPr>
              <a:t>за внимание!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50392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66"/>
                </a:solidFill>
              </a:rPr>
              <a:t>7 / 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396</Words>
  <Application>Microsoft Office PowerPoint</Application>
  <PresentationFormat>On-screen Show (16:9)</PresentationFormat>
  <Paragraphs>152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Информационно-справочная система фитнес-центра</dc:title>
  <dc:subject>PptxGenJS Presentation</dc:subject>
  <dc:creator>PptxGenJS</dc:creator>
  <cp:lastModifiedBy>Alihuseyn Nasirov</cp:lastModifiedBy>
  <cp:revision>2</cp:revision>
  <dcterms:created xsi:type="dcterms:W3CDTF">2026-05-10T13:22:28Z</dcterms:created>
  <dcterms:modified xsi:type="dcterms:W3CDTF">2026-05-11T18:54:04Z</dcterms:modified>
</cp:coreProperties>
</file>